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6217920"/>
            <a:ext cx="1097280" cy="1097280"/>
          </a:xfrm>
          <a:prstGeom prst="ellipse">
            <a:avLst/>
          </a:prstGeom>
          <a:solidFill>
            <a:srgbClr val="006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2743200"/>
            <a:ext cx="731520" cy="731520"/>
          </a:xfrm>
          <a:prstGeom prst="ellipse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006B94"/>
                </a:solidFill>
                <a:latin typeface="Calibri"/>
              </a:defRPr>
            </a:pPr>
            <a:r>
              <a:t>Multilingual Historical</a:t>
            </a:r>
            <a:br/>
            <a:r>
              <a:t>Entity Linking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2046"/>
                </a:solidFill>
                <a:latin typeface="Calibri"/>
              </a:defRPr>
            </a:pPr>
            <a:r>
              <a:t>Implementation, Improvements &amp; Comparative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91840"/>
            <a:ext cx="2743200" cy="45720"/>
          </a:xfrm>
          <a:prstGeom prst="rect">
            <a:avLst/>
          </a:prstGeom>
          <a:solidFill>
            <a:srgbClr val="C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6B2D2"/>
                </a:solidFill>
                <a:latin typeface="Calibri"/>
              </a:defRPr>
            </a:pPr>
            <a:r>
              <a:t>Presented by: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114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1E1E"/>
                </a:solidFill>
                <a:latin typeface="Calibri"/>
              </a:defRPr>
            </a:pPr>
            <a:r>
              <a:t>[Your Name(s)]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6B2D2"/>
                </a:solidFill>
                <a:latin typeface="Calibri"/>
              </a:defRPr>
            </a:pPr>
            <a:r>
              <a:t>Roll Number(s):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5262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1E1E"/>
                </a:solidFill>
                <a:latin typeface="Calibri"/>
              </a:defRPr>
            </a:pPr>
            <a:r>
              <a:t>[Your Roll Numbers]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6B2D2"/>
                </a:solidFill>
                <a:latin typeface="Calibri"/>
              </a:defRPr>
            </a:pPr>
            <a:r>
              <a:t>Department: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937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1E1E"/>
                </a:solidFill>
                <a:latin typeface="Calibri"/>
              </a:defRPr>
            </a:pPr>
            <a:r>
              <a:t>[Department Name]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6B2D2"/>
                </a:solidFill>
                <a:latin typeface="Calibri"/>
              </a:defRPr>
            </a:pPr>
            <a:r>
              <a:t>Institute: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3492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1E1E"/>
                </a:solidFill>
                <a:latin typeface="Calibri"/>
              </a:defRPr>
            </a:pPr>
            <a:r>
              <a:t>[Institute Name]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607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6B2D2"/>
                </a:solidFill>
                <a:latin typeface="Calibri"/>
              </a:defRPr>
            </a:pPr>
            <a:r>
              <a:t>Date: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7607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1E1E"/>
                </a:solidFill>
                <a:latin typeface="Calibri"/>
              </a:defRPr>
            </a:pPr>
            <a:r>
              <a:t>May 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6217920"/>
            <a:ext cx="1097280" cy="1097280"/>
          </a:xfrm>
          <a:prstGeom prst="ellipse">
            <a:avLst/>
          </a:prstGeom>
          <a:solidFill>
            <a:srgbClr val="006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2743200"/>
            <a:ext cx="731520" cy="731520"/>
          </a:xfrm>
          <a:prstGeom prst="ellipse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F0F8FF"/>
          </a:solidFill>
          <a:ln w="38100">
            <a:solidFill>
              <a:srgbClr val="006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6B94"/>
                </a:solidFill>
                <a:latin typeface="Calibri"/>
              </a:defRPr>
            </a:pPr>
            <a:r>
              <a:t>Entity Linking: Overview &amp; Project Journey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468880" cy="4572000"/>
          </a:xfrm>
          <a:prstGeom prst="rect">
            <a:avLst/>
          </a:prstGeom>
          <a:solidFill>
            <a:srgbClr val="F0F8FF"/>
          </a:solidFill>
          <a:ln w="2540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6B2D2"/>
                </a:solidFill>
                <a:latin typeface="Calibri"/>
              </a:defRPr>
            </a:pPr>
            <a:r>
              <a:t>What is Entity Linking?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1E1E"/>
                </a:solidFill>
                <a:latin typeface="Calibri"/>
              </a:defRPr>
            </a:pPr>
            <a:r>
              <a:t>Resolving mentions to Wikipedia entities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1E1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1E1E"/>
                </a:solidFill>
                <a:latin typeface="Calibri"/>
              </a:defRPr>
            </a:pPr>
            <a:r>
              <a:t>Input: Mention text + context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1E1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1E1E"/>
                </a:solidFill>
                <a:latin typeface="Calibri"/>
              </a:defRPr>
            </a:pPr>
            <a:r>
              <a:t>Output: Entity ID + confidence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1E1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1E1E"/>
                </a:solidFill>
                <a:latin typeface="Calibri"/>
              </a:defRPr>
            </a:pPr>
            <a:r>
              <a:t>Challenge: Rare historical entities, abbreviations, multilingual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371600"/>
            <a:ext cx="2468880" cy="4572000"/>
          </a:xfrm>
          <a:prstGeom prst="rect">
            <a:avLst/>
          </a:prstGeom>
          <a:solidFill>
            <a:srgbClr val="FFF5F0"/>
          </a:solidFill>
          <a:ln w="25400">
            <a:solidFill>
              <a:srgbClr val="C8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5087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8324E"/>
                </a:solidFill>
                <a:latin typeface="Calibri"/>
              </a:defRPr>
            </a:pPr>
            <a:r>
              <a:t>Mid-Semester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1E1E"/>
                </a:solidFill>
                <a:latin typeface="Calibri"/>
              </a:defRPr>
            </a:pPr>
            <a:r>
              <a:t>✓ Studied 4 major papers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1E1E"/>
                </a:solidFill>
                <a:latin typeface="Calibri"/>
              </a:defRPr>
            </a:pPr>
            <a:r>
              <a:t>✓ BLINK &amp; MVD baselines set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1E1E"/>
                </a:solidFill>
                <a:latin typeface="Calibri"/>
              </a:defRPr>
            </a:pPr>
            <a:r>
              <a:t>✓ mReFinED setup started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1E1E"/>
                </a:solidFill>
                <a:latin typeface="Calibri"/>
              </a:defRPr>
            </a:pPr>
            <a:r>
              <a:t>✗ No full evaluation done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1E1E"/>
                </a:solidFill>
                <a:latin typeface="Calibri"/>
              </a:defRPr>
            </a:pPr>
            <a:r>
              <a:t>✗ No improvements yet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1E1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1E1E"/>
                </a:solidFill>
                <a:latin typeface="Calibri"/>
              </a:defRPr>
            </a:pPr>
            <a:r>
              <a:t>Challenge: Which paper to prioritize?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468880" cy="4572000"/>
          </a:xfrm>
          <a:prstGeom prst="rect">
            <a:avLst/>
          </a:prstGeom>
          <a:solidFill>
            <a:srgbClr val="F0FFF0"/>
          </a:solidFill>
          <a:ln w="2540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5087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DA646"/>
                </a:solidFill>
                <a:latin typeface="Calibri"/>
              </a:defRPr>
            </a:pPr>
            <a:r>
              <a:t>End-Semester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1E1E"/>
                </a:solidFill>
                <a:latin typeface="Calibri"/>
              </a:defRPr>
            </a:pPr>
            <a:r>
              <a:t>✓ Full system implemented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1E1E"/>
                </a:solidFill>
                <a:latin typeface="Calibri"/>
              </a:defRPr>
            </a:pPr>
            <a:r>
              <a:t>✓ Evaluated 6 datasets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1E1E"/>
                </a:solidFill>
                <a:latin typeface="Calibri"/>
              </a:defRPr>
            </a:pPr>
            <a:r>
              <a:t>✓ Error analysis complete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1E1E"/>
                </a:solidFill>
                <a:latin typeface="Calibri"/>
              </a:defRPr>
            </a:pPr>
            <a:r>
              <a:t>✓ Improvements documented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1E1E"/>
                </a:solidFill>
                <a:latin typeface="Calibri"/>
              </a:defRPr>
            </a:pPr>
            <a:r>
              <a:t>✓ 100% reproducible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1E1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>
                <a:solidFill>
                  <a:srgbClr val="1E1E1E"/>
                </a:solidFill>
                <a:latin typeface="Calibri"/>
              </a:defRPr>
            </a:pPr>
            <a:r>
              <a:t>Achievement: +12% routing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6217920"/>
            <a:ext cx="1097280" cy="1097280"/>
          </a:xfrm>
          <a:prstGeom prst="ellipse">
            <a:avLst/>
          </a:prstGeom>
          <a:solidFill>
            <a:srgbClr val="C83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2743200"/>
            <a:ext cx="731520" cy="731520"/>
          </a:xfrm>
          <a:prstGeom prst="ellipse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F0F8FF"/>
          </a:solidFill>
          <a:ln w="38100">
            <a:solidFill>
              <a:srgbClr val="C8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C8324E"/>
                </a:solidFill>
                <a:latin typeface="Calibri"/>
              </a:defRPr>
            </a:pPr>
            <a:r>
              <a:t>Paper 1: mReFinED — Multilingual Refined Entity Disambiguation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8324E"/>
                </a:solidFill>
                <a:latin typeface="Calibri"/>
              </a:defRPr>
            </a:pPr>
            <a:r>
              <a:t>What is mReFinED?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Cross-encoder based ranking approach for entity linking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Pre-trained on large-scale weak supervision from Wikipedia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Supports 101 languages with multilingual coverage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Pure neural approach: No LLM needed, just ranker scores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Real-time inference 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67E22"/>
                </a:solidFill>
                <a:latin typeface="Calibri"/>
              </a:defRPr>
            </a:pPr>
            <a:r>
              <a:t>Key Claims of the 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79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Achieves competitive accuracy on standard benchmarks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Significantly faster than LLM-based approaches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Robust to different mention types and entity frequencies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Scalable to large knowledge bases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A646"/>
                </a:solidFill>
                <a:latin typeface="Calibri"/>
              </a:defRPr>
            </a:pPr>
            <a:r>
              <a:t>Datasets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AJMC (Ancient Greek/Latin), MEWSLI-9 (9 languages), NEWSEYE (historical news)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371600"/>
            <a:ext cx="2011680" cy="4846320"/>
          </a:xfrm>
          <a:prstGeom prst="rect">
            <a:avLst/>
          </a:prstGeom>
          <a:solidFill>
            <a:srgbClr val="DCDCDC"/>
          </a:solidFill>
          <a:ln w="25400">
            <a:solidFill>
              <a:srgbClr val="64646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3200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46464"/>
                </a:solidFill>
                <a:latin typeface="Calibri"/>
              </a:defRPr>
            </a:pPr>
            <a:r>
              <a:t>[Architecture Diagram or Research Overview]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6217920"/>
            <a:ext cx="1097280" cy="1097280"/>
          </a:xfrm>
          <a:prstGeom prst="ellipse">
            <a:avLst/>
          </a:prstGeom>
          <a:solidFill>
            <a:srgbClr val="C83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2743200"/>
            <a:ext cx="731520" cy="731520"/>
          </a:xfrm>
          <a:prstGeom prst="ellipse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F0F8FF"/>
          </a:solidFill>
          <a:ln w="38100">
            <a:solidFill>
              <a:srgbClr val="C8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C8324E"/>
                </a:solidFill>
                <a:latin typeface="Calibri"/>
              </a:defRPr>
            </a:pPr>
            <a:r>
              <a:t>Why mReFinED Datasets Were Special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2560320" cy="2560320"/>
          </a:xfrm>
          <a:prstGeom prst="rect">
            <a:avLst/>
          </a:prstGeom>
          <a:solidFill>
            <a:srgbClr val="F0F8FF"/>
          </a:solidFill>
          <a:ln w="25400">
            <a:solidFill>
              <a:srgbClr val="C8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4630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8324E"/>
                </a:solidFill>
                <a:latin typeface="Calibri"/>
              </a:defRPr>
            </a:pPr>
            <a:r>
              <a:t>AJMC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182880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Ancient classical texts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Calibri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3 languages: EN, DE, FR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8,500 mentions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Calibri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4DA646"/>
                </a:solidFill>
                <a:latin typeface="Calibri"/>
              </a:defRPr>
            </a:pPr>
            <a:r>
              <a:t>✓ Rare historical entities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560320" cy="2560320"/>
          </a:xfrm>
          <a:prstGeom prst="rect">
            <a:avLst/>
          </a:prstGeom>
          <a:solidFill>
            <a:srgbClr val="F0F8FF"/>
          </a:solidFill>
          <a:ln w="25400">
            <a:solidFill>
              <a:srgbClr val="C8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4630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8324E"/>
                </a:solidFill>
                <a:latin typeface="Calibri"/>
              </a:defRPr>
            </a:pPr>
            <a:r>
              <a:t>MEWSLI-9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82880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Weak supervision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Calibri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9 languages (Latin, Cyrillic, Arabic, CJK)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10,000+ mentions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Calibri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4DA646"/>
                </a:solidFill>
                <a:latin typeface="Calibri"/>
              </a:defRPr>
            </a:pPr>
            <a:r>
              <a:t>✓ Multilingual diversity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560320" cy="2560320"/>
          </a:xfrm>
          <a:prstGeom prst="rect">
            <a:avLst/>
          </a:prstGeom>
          <a:solidFill>
            <a:srgbClr val="F0F8FF"/>
          </a:solidFill>
          <a:ln w="25400">
            <a:solidFill>
              <a:srgbClr val="C8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8324E"/>
                </a:solidFill>
                <a:latin typeface="Calibri"/>
              </a:defRPr>
            </a:pPr>
            <a:r>
              <a:t>NEWSEYE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82880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Historical news corpus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Calibri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4 languages: DE, FI, FR, SV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Calibri"/>
              </a:defRPr>
            </a:pPr>
            <a:r>
              <a:t>5,200 mentions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1E1E1E"/>
                </a:solidFill>
                <a:latin typeface="Calibri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4DA646"/>
                </a:solidFill>
                <a:latin typeface="Calibri"/>
              </a:defRPr>
            </a:pPr>
            <a:r>
              <a:t>✓ Historical domain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6217920"/>
            <a:ext cx="1097280" cy="1097280"/>
          </a:xfrm>
          <a:prstGeom prst="ellipse">
            <a:avLst/>
          </a:prstGeom>
          <a:solidFill>
            <a:srgbClr val="C83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2743200"/>
            <a:ext cx="731520" cy="731520"/>
          </a:xfrm>
          <a:prstGeom prst="ellipse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F0F8FF"/>
          </a:solidFill>
          <a:ln w="38100">
            <a:solidFill>
              <a:srgbClr val="C8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C8324E"/>
                </a:solidFill>
                <a:latin typeface="Calibri"/>
              </a:defRPr>
            </a:pPr>
            <a:r>
              <a:t>Why We Chose mReFinED: Decision &amp;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8324E"/>
                </a:solidFill>
                <a:latin typeface="Calibri"/>
              </a:defRPr>
            </a:pPr>
            <a:r>
              <a:t>Research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Compare different architectural paradigms: hybrid routing (MHEL) vs pure neural ranking (mReFinED)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Understand trade-offs between LLM-based and encoder-based approaches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Contribute comparative insights to entity linking literature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67E22"/>
                </a:solidFill>
                <a:latin typeface="Calibri"/>
              </a:defRPr>
            </a:pPr>
            <a:r>
              <a:t>Academic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Evaluate whether pure neural approach achieves similar performance with less complexity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Document architectural trade-offs: accuracy vs speed vs model simplicity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Provide evidence-based comparison for the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A646"/>
                </a:solidFill>
                <a:latin typeface="Calibri"/>
              </a:defRPr>
            </a:pPr>
            <a:r>
              <a:t>Practical Considerations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Same datasets as MHEL would enable direct comparison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Multilingual scope aligns with project goals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Could be faster alternative if competitive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6217920"/>
            <a:ext cx="1097280" cy="1097280"/>
          </a:xfrm>
          <a:prstGeom prst="ellipse">
            <a:avLst/>
          </a:prstGeom>
          <a:solidFill>
            <a:srgbClr val="C83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2743200"/>
            <a:ext cx="731520" cy="731520"/>
          </a:xfrm>
          <a:prstGeom prst="ellipse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F0F8FF"/>
          </a:solidFill>
          <a:ln w="38100">
            <a:solidFill>
              <a:srgbClr val="C8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C8324E"/>
                </a:solidFill>
                <a:latin typeface="Calibri"/>
              </a:defRPr>
            </a:pPr>
            <a:r>
              <a:t>Challenges Faced with mReFinED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8324E"/>
                </a:solidFill>
                <a:latin typeface="Calibri"/>
              </a:defRPr>
            </a:pPr>
            <a:r>
              <a:t>Challenge 1: Missing Model Weights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1E"/>
                </a:solidFill>
                <a:latin typeface="Calibri"/>
              </a:defRPr>
            </a:pPr>
            <a:r>
              <a:t>Model weights were not published, only architecture was available. Required extensive trial-and-error to find compatible pre-trained variants.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defRPr sz="900">
                <a:solidFill>
                  <a:srgbClr val="1E1E1E"/>
                </a:solidFill>
                <a:latin typeface="Calibri"/>
              </a:defRPr>
            </a:pPr>
            <a:r>
              <a:t>✗ Recreated from scratch</a:t>
            </a:r>
          </a:p>
          <a:p>
            <a:pPr>
              <a:spcBef>
                <a:spcPts val="100"/>
              </a:spcBef>
              <a:defRPr sz="900">
                <a:solidFill>
                  <a:srgbClr val="1E1E1E"/>
                </a:solidFill>
                <a:latin typeface="Calibri"/>
              </a:defRPr>
            </a:pPr>
            <a:r>
              <a:t>⚠ Used alternative weights from HuggingFace</a:t>
            </a:r>
          </a:p>
          <a:p>
            <a:pPr>
              <a:spcBef>
                <a:spcPts val="100"/>
              </a:spcBef>
              <a:defRPr sz="900">
                <a:solidFill>
                  <a:srgbClr val="1E1E1E"/>
                </a:solidFill>
                <a:latin typeface="Calibri"/>
              </a:defRPr>
            </a:pPr>
            <a:r>
              <a:t>⚠ Accuracy lower than paper claims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37160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Calibri"/>
              </a:defRPr>
            </a:pPr>
            <a:r>
              <a:t>Not Fully Resolved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8324E"/>
                </a:solidFill>
                <a:latin typeface="Calibri"/>
              </a:defRPr>
            </a:pPr>
            <a:r>
              <a:t>Challenge 2: Non-Latin Script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1752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1E"/>
                </a:solidFill>
                <a:latin typeface="Calibri"/>
              </a:defRPr>
            </a:pPr>
            <a:r>
              <a:t>Arabic, Farsi, and Japanese showed significantly lower performance (24-27% F1) compared to Latin scripts (50-56% F1). Pre-training bias issue.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290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defRPr sz="900">
                <a:solidFill>
                  <a:srgbClr val="1E1E1E"/>
                </a:solidFill>
                <a:latin typeface="Calibri"/>
              </a:defRPr>
            </a:pPr>
            <a:r>
              <a:t>✗ Attempted fine-tuning (time constraints)</a:t>
            </a:r>
          </a:p>
          <a:p>
            <a:pPr>
              <a:spcBef>
                <a:spcPts val="100"/>
              </a:spcBef>
              <a:defRPr sz="900">
                <a:solidFill>
                  <a:srgbClr val="1E1E1E"/>
                </a:solidFill>
                <a:latin typeface="Calibri"/>
              </a:defRPr>
            </a:pPr>
            <a:r>
              <a:t>⚠ Identified but not fixed</a:t>
            </a:r>
          </a:p>
          <a:p>
            <a:pPr>
              <a:spcBef>
                <a:spcPts val="100"/>
              </a:spcBef>
              <a:defRPr sz="900">
                <a:solidFill>
                  <a:srgbClr val="1E1E1E"/>
                </a:solidFill>
                <a:latin typeface="Calibri"/>
              </a:defRPr>
            </a:pPr>
            <a:r>
              <a:t>Impact: 9 languages → 6 reproducible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69748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Calibri"/>
              </a:defRPr>
            </a:pPr>
            <a:r>
              <a:t>Unresolved - Led to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8324E"/>
                </a:solidFill>
                <a:latin typeface="Calibri"/>
              </a:defRPr>
            </a:pPr>
            <a:r>
              <a:t>Challenge 3: Speed vs Accuracy Trade-off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1E"/>
                </a:solidFill>
                <a:latin typeface="Calibri"/>
              </a:defRPr>
            </a:pPr>
            <a:r>
              <a:t>Cross-encoder approach was slower than expected (45ms per mention vs target 15ms). Made scalability questionable.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548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defRPr sz="900">
                <a:solidFill>
                  <a:srgbClr val="1E1E1E"/>
                </a:solidFill>
                <a:latin typeface="Calibri"/>
              </a:defRPr>
            </a:pPr>
            <a:r>
              <a:t>⚠ Optimization attempted</a:t>
            </a:r>
          </a:p>
          <a:p>
            <a:pPr>
              <a:spcBef>
                <a:spcPts val="100"/>
              </a:spcBef>
              <a:defRPr sz="900">
                <a:solidFill>
                  <a:srgbClr val="1E1E1E"/>
                </a:solidFill>
                <a:latin typeface="Calibri"/>
              </a:defRPr>
            </a:pPr>
            <a:r>
              <a:t>✗ Couldn't meet performance targets</a:t>
            </a:r>
          </a:p>
          <a:p>
            <a:pPr>
              <a:spcBef>
                <a:spcPts val="100"/>
              </a:spcBef>
              <a:defRPr sz="900">
                <a:solidFill>
                  <a:srgbClr val="1E1E1E"/>
                </a:solidFill>
                <a:latin typeface="Calibri"/>
              </a:defRPr>
            </a:pPr>
            <a:r>
              <a:t>Impact: Less practical than hybrid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0233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Calibri"/>
              </a:defRPr>
            </a:pPr>
            <a:r>
              <a:t>Partially Addressed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492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8324E"/>
                </a:solidFill>
                <a:latin typeface="Calibri"/>
              </a:defRPr>
            </a:pPr>
            <a:r>
              <a:t>Challenge 4: Limited Hyperparameter Tuning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6928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1E"/>
                </a:solidFill>
                <a:latin typeface="Calibri"/>
              </a:defRPr>
            </a:pPr>
            <a:r>
              <a:t>Time constraints (1 week allocated) prevented systematic threshold optimization and dataset-specific tuning.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0807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defRPr sz="900">
                <a:solidFill>
                  <a:srgbClr val="1E1E1E"/>
                </a:solidFill>
                <a:latin typeface="Calibri"/>
              </a:defRPr>
            </a:pPr>
            <a:r>
              <a:t>⚠ Basic calibration done</a:t>
            </a:r>
          </a:p>
          <a:p>
            <a:pPr>
              <a:spcBef>
                <a:spcPts val="100"/>
              </a:spcBef>
              <a:defRPr sz="900">
                <a:solidFill>
                  <a:srgbClr val="1E1E1E"/>
                </a:solidFill>
                <a:latin typeface="Calibri"/>
              </a:defRPr>
            </a:pPr>
            <a:r>
              <a:t>✗ No comprehensive grid search</a:t>
            </a:r>
          </a:p>
          <a:p>
            <a:pPr>
              <a:spcBef>
                <a:spcPts val="100"/>
              </a:spcBef>
              <a:defRPr sz="900">
                <a:solidFill>
                  <a:srgbClr val="1E1E1E"/>
                </a:solidFill>
                <a:latin typeface="Calibri"/>
              </a:defRPr>
            </a:pPr>
            <a:r>
              <a:t>Impact: Likely suboptimal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349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Calibri"/>
              </a:defRPr>
            </a:pPr>
            <a:r>
              <a:t>Acknowledged Constraint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21792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 i="1">
                <a:solidFill>
                  <a:srgbClr val="C8324E"/>
                </a:solidFill>
                <a:latin typeface="Calibri"/>
              </a:defRPr>
            </a:pPr>
            <a:r>
              <a:t>Key Decision: These unresolved challenges led us to switch focus to MHEL-LLaMo, which had clearer implementation path and better documentation.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6217920"/>
            <a:ext cx="1097280" cy="1097280"/>
          </a:xfrm>
          <a:prstGeom prst="ellipse">
            <a:avLst/>
          </a:prstGeom>
          <a:solidFill>
            <a:srgbClr val="46B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2743200"/>
            <a:ext cx="731520" cy="731520"/>
          </a:xfrm>
          <a:prstGeom prst="ellipse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F0F8FF"/>
          </a:solidFill>
          <a:ln w="3810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6B2D2"/>
                </a:solidFill>
                <a:latin typeface="Calibri"/>
              </a:defRPr>
            </a:pPr>
            <a:r>
              <a:t>Paper 2: MHEL-LLaMo — Confidence-Based Routing for Entity Linking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6B2D2"/>
                </a:solidFill>
                <a:latin typeface="Calibri"/>
              </a:defRPr>
            </a:pPr>
            <a:r>
              <a:t>What is MHEL-LLaMo?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Hybrid approach combining bi-encoder retrieval with LLM-based confidence routing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Key innovation: Adaptive routing that sends only hard cases to LLM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Multilingual support across 9+ languages with practical efficiency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Specifically designed for historical entity linking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67E22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Stage 1: BELA bi-encoder retrieves top-K candidates (~20-50 entity candidates)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Stage 2: Confidence router decides: easy case (use top-1) or hard case (send to LLM)?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Stage 3: For hard cases, Mistral-24B LLM makes final prediction with context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Result: Efficient system balancing accuracy with computational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A646"/>
                </a:solidFill>
                <a:latin typeface="Calibri"/>
              </a:defRPr>
            </a:pPr>
            <a:r>
              <a:t>Key 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Outperforms pure neural and pure LLM baselines on multiple historical datasets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Reproducible on limited hardware (single GPU, 32GB)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6217920"/>
            <a:ext cx="1097280" cy="1097280"/>
          </a:xfrm>
          <a:prstGeom prst="ellipse">
            <a:avLst/>
          </a:prstGeom>
          <a:solidFill>
            <a:srgbClr val="46B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2743200"/>
            <a:ext cx="731520" cy="731520"/>
          </a:xfrm>
          <a:prstGeom prst="ellipse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F0F8FF"/>
          </a:solidFill>
          <a:ln w="3810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6B2D2"/>
                </a:solidFill>
                <a:latin typeface="Calibri"/>
              </a:defRPr>
            </a:pPr>
            <a:r>
              <a:t>MHEL Datasets: Why They Were Special &amp; Suitable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280160" cy="365760"/>
          </a:xfrm>
          <a:prstGeom prst="rect">
            <a:avLst/>
          </a:prstGeom>
          <a:solidFill>
            <a:srgbClr val="46B2D2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371600"/>
            <a:ext cx="1005840" cy="365760"/>
          </a:xfrm>
          <a:prstGeom prst="rect">
            <a:avLst/>
          </a:prstGeom>
          <a:solidFill>
            <a:srgbClr val="46B2D2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371600"/>
            <a:ext cx="1005840" cy="365760"/>
          </a:xfrm>
          <a:prstGeom prst="rect">
            <a:avLst/>
          </a:prstGeom>
          <a:solidFill>
            <a:srgbClr val="46B2D2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Languages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1371600"/>
            <a:ext cx="1097280" cy="365760"/>
          </a:xfrm>
          <a:prstGeom prst="rect">
            <a:avLst/>
          </a:prstGeom>
          <a:solidFill>
            <a:srgbClr val="46B2D2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141732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Domain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59" y="1371600"/>
            <a:ext cx="1188720" cy="365760"/>
          </a:xfrm>
          <a:prstGeom prst="rect">
            <a:avLst/>
          </a:prstGeom>
          <a:solidFill>
            <a:srgbClr val="46B2D2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79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79" y="1371600"/>
            <a:ext cx="1280160" cy="365760"/>
          </a:xfrm>
          <a:prstGeom prst="rect">
            <a:avLst/>
          </a:prstGeom>
          <a:solidFill>
            <a:srgbClr val="46B2D2"/>
          </a:solidFill>
          <a:ln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199" y="141732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Why Suitable for MHEL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755648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1801368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AJMC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1755648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74519" y="18013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8,500 mentions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1755648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18013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EN, DE, FR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1755648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180136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Ancient texts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59" y="1755648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79" y="18013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Abbreviations (40% errors)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79" y="1755648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199" y="1801368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Tests abbreviation handling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139696"/>
            <a:ext cx="1280160" cy="365760"/>
          </a:xfrm>
          <a:prstGeom prst="rect">
            <a:avLst/>
          </a:prstGeom>
          <a:solidFill>
            <a:srgbClr val="F0F8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2185415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MEWSLI-9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2139696"/>
            <a:ext cx="1005840" cy="365760"/>
          </a:xfrm>
          <a:prstGeom prst="rect">
            <a:avLst/>
          </a:prstGeom>
          <a:solidFill>
            <a:srgbClr val="F0F8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74519" y="21854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10,000+ mentions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2139696"/>
            <a:ext cx="1005840" cy="365760"/>
          </a:xfrm>
          <a:prstGeom prst="rect">
            <a:avLst/>
          </a:prstGeom>
          <a:solidFill>
            <a:srgbClr val="F0F8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80360" y="21854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9 languages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2139696"/>
            <a:ext cx="1097280" cy="365760"/>
          </a:xfrm>
          <a:prstGeom prst="rect">
            <a:avLst/>
          </a:prstGeom>
          <a:solidFill>
            <a:srgbClr val="F0F8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86200" y="2185415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Multilingual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59" y="2139696"/>
            <a:ext cx="1188720" cy="365760"/>
          </a:xfrm>
          <a:prstGeom prst="rect">
            <a:avLst/>
          </a:prstGeom>
          <a:solidFill>
            <a:srgbClr val="F0F8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83479" y="218541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Script diversity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79" y="2139696"/>
            <a:ext cx="1280160" cy="365760"/>
          </a:xfrm>
          <a:prstGeom prst="rect">
            <a:avLst/>
          </a:prstGeom>
          <a:solidFill>
            <a:srgbClr val="F0F8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199" y="2185415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MHEL strength: multilingual support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2523744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2569463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NEWSEYE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0" y="2523744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74519" y="256946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5,200 mentions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34640" y="2523744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80360" y="256946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DE, FI, FR, SV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0" y="252374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86200" y="2569463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Historical news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37759" y="2523744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83479" y="256946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Rare entities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26479" y="2523744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72199" y="2569463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Real historical domain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2907791"/>
            <a:ext cx="1280160" cy="365760"/>
          </a:xfrm>
          <a:prstGeom prst="rect">
            <a:avLst/>
          </a:prstGeom>
          <a:solidFill>
            <a:srgbClr val="F0F8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2953511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HIPE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28800" y="2907791"/>
            <a:ext cx="1005840" cy="365760"/>
          </a:xfrm>
          <a:prstGeom prst="rect">
            <a:avLst/>
          </a:prstGeom>
          <a:solidFill>
            <a:srgbClr val="F0F8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74519" y="295351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35,000+ mentions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34640" y="2907791"/>
            <a:ext cx="1005840" cy="365760"/>
          </a:xfrm>
          <a:prstGeom prst="rect">
            <a:avLst/>
          </a:prstGeom>
          <a:solidFill>
            <a:srgbClr val="F0F8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80360" y="295351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DE, EN, FR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40480" y="2907791"/>
            <a:ext cx="1097280" cy="365760"/>
          </a:xfrm>
          <a:prstGeom prst="rect">
            <a:avLst/>
          </a:prstGeom>
          <a:solidFill>
            <a:srgbClr val="F0F8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86200" y="2953511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Historical docs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37759" y="2907791"/>
            <a:ext cx="1188720" cy="365760"/>
          </a:xfrm>
          <a:prstGeom prst="rect">
            <a:avLst/>
          </a:prstGeom>
          <a:solidFill>
            <a:srgbClr val="F0F8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83479" y="295351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Both NER + EL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26479" y="2907791"/>
            <a:ext cx="1280160" cy="365760"/>
          </a:xfrm>
          <a:prstGeom prst="rect">
            <a:avLst/>
          </a:prstGeom>
          <a:solidFill>
            <a:srgbClr val="F0F8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72199" y="2953511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Complex task combining both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3291840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4360" y="333756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MHERCL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0" y="329184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74519" y="3337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8,000 mentions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834640" y="3291840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880360" y="3337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EN, IT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40480" y="329184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886200" y="333756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17-19th century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37759" y="329184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83479" y="3337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Dated language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26479" y="3291840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72199" y="333756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Century-old text challenges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3675887"/>
            <a:ext cx="1280160" cy="365760"/>
          </a:xfrm>
          <a:prstGeom prst="rect">
            <a:avLst/>
          </a:prstGeom>
          <a:solidFill>
            <a:srgbClr val="F0F8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4360" y="3721607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TR2016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0" y="3675887"/>
            <a:ext cx="1005840" cy="365760"/>
          </a:xfrm>
          <a:prstGeom prst="rect">
            <a:avLst/>
          </a:prstGeom>
          <a:solidFill>
            <a:srgbClr val="F0F8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874519" y="372160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2,000 mentions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834640" y="3675887"/>
            <a:ext cx="1005840" cy="365760"/>
          </a:xfrm>
          <a:prstGeom prst="rect">
            <a:avLst/>
          </a:prstGeom>
          <a:solidFill>
            <a:srgbClr val="F0F8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880360" y="372160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Turkish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40480" y="3675887"/>
            <a:ext cx="1097280" cy="365760"/>
          </a:xfrm>
          <a:prstGeom prst="rect">
            <a:avLst/>
          </a:prstGeom>
          <a:solidFill>
            <a:srgbClr val="F0F8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886200" y="3721607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News/historical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937759" y="3675887"/>
            <a:ext cx="1188720" cy="365760"/>
          </a:xfrm>
          <a:prstGeom prst="rect">
            <a:avLst/>
          </a:prstGeom>
          <a:solidFill>
            <a:srgbClr val="F0F8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983479" y="37216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Corrupted offsets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126479" y="3675887"/>
            <a:ext cx="1280160" cy="365760"/>
          </a:xfrm>
          <a:prstGeom prst="rect">
            <a:avLst/>
          </a:prstGeom>
          <a:solidFill>
            <a:srgbClr val="F0F8FF"/>
          </a:solidFill>
          <a:ln w="635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72199" y="3721607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1E1E"/>
                </a:solidFill>
                <a:latin typeface="Calibri"/>
              </a:defRPr>
            </a:pPr>
            <a:r>
              <a:t>Edge case handling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6217920"/>
            <a:ext cx="1097280" cy="1097280"/>
          </a:xfrm>
          <a:prstGeom prst="ellipse">
            <a:avLst/>
          </a:prstGeom>
          <a:solidFill>
            <a:srgbClr val="46B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2743200"/>
            <a:ext cx="731520" cy="731520"/>
          </a:xfrm>
          <a:prstGeom prst="ellipse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F0F8FF"/>
          </a:solidFill>
          <a:ln w="38100">
            <a:solidFill>
              <a:srgbClr val="46B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6B2D2"/>
                </a:solidFill>
                <a:latin typeface="Calibri"/>
              </a:defRPr>
            </a:pPr>
            <a:r>
              <a:t>Why We Chose MHEL-LLaMo: Strategic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6B2D2"/>
                </a:solidFill>
                <a:latin typeface="Calibri"/>
              </a:defRPr>
            </a:pPr>
            <a:r>
              <a:t>Clear Implementation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Well-documented paper with detailed algorithms and hyperparameters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Released models and code available from authors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Modular design: easy to decompose and improve individual components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vs mReFinED: which had missing weights and unclear implementation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67E22"/>
                </a:solidFill>
                <a:latin typeface="Calibri"/>
              </a:defRPr>
            </a:pPr>
            <a:r>
              <a:t>Better Practical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Designed specifically for multilingual and historical entity linking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Hybrid approach handles both easy (fast) and hard (accurate) cases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Reproducible on single 32GB GPU (our constraint)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Efficiency + accuracy balance matches real-world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DA646"/>
                </a:solidFill>
                <a:latin typeface="Calibri"/>
              </a:defRPr>
            </a:pPr>
            <a:r>
              <a:t>Improvement Opportunities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Confidence router can be enhanced with better ML models (our contribution: XGBoost)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Error analysis opportunities for abbreviations and short mentions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Hardware optimization needed for limited GPU memory</a:t>
            </a:r>
          </a:p>
        </p:txBody>
      </p:sp>
      <p:pic>
        <p:nvPicPr>
          <p:cNvPr id="13" name="Picture 12" descr="mvd_recall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200400"/>
            <a:ext cx="3474720" cy="19545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6217920"/>
            <a:ext cx="1097280" cy="1097280"/>
          </a:xfrm>
          <a:prstGeom prst="ellipse">
            <a:avLst/>
          </a:prstGeom>
          <a:solidFill>
            <a:srgbClr val="006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2743200"/>
            <a:ext cx="731520" cy="731520"/>
          </a:xfrm>
          <a:prstGeom prst="ellipse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F0F8FF"/>
          </a:solidFill>
          <a:ln w="38100">
            <a:solidFill>
              <a:srgbClr val="006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6B94"/>
                </a:solidFill>
                <a:latin typeface="Calibri"/>
              </a:defRPr>
            </a:pPr>
            <a:r>
              <a:t>MHEL Implementation: Architecture &amp; Hardware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840480" cy="4937760"/>
          </a:xfrm>
          <a:prstGeom prst="rect">
            <a:avLst/>
          </a:prstGeom>
          <a:solidFill>
            <a:srgbClr val="DCDCDC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  <a:latin typeface="Calibri"/>
              </a:defRPr>
            </a:pPr>
            <a:r>
              <a:t>[MHEL Architecture Diagram]</a:t>
            </a:r>
            <a:br/>
            <a:br/>
            <a:r>
              <a:t>Retrieval → Routing → LLM →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6B2D2"/>
                </a:solidFill>
                <a:latin typeface="Calibri"/>
              </a:defRPr>
            </a:pPr>
            <a:r>
              <a:t>Component 1: Retrieval Stage (BELA)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Microsoft BELA bi-encoder: multilingual dense retrieval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Input: Mention + context window (~200 chars)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Output: Top-50 entity candidates with similarity scores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Performance: ~10ms per mention, 78% recall@5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7E22"/>
                </a:solidFill>
                <a:latin typeface="Calibri"/>
              </a:defRPr>
            </a:pPr>
            <a:r>
              <a:t>Component 2: Confidence Router (NEW - Our Enhancement)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XGBoost binary classifier: Easy case vs Hard case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Training data: 18,075 multilingual mentions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Features: confidence score, score margin, mention length, edit distance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Result: 82% routing accuracy (+12% vs simple threshold baseline)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DA646"/>
                </a:solidFill>
                <a:latin typeface="Calibri"/>
              </a:defRPr>
            </a:pPr>
            <a:r>
              <a:t>Component 3: LLM Linker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Mistral-24B multilingual LLM for hard cases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Chain-of-thought prompting for reasoning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Context-aware: provides top-5 candidates + mention context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Performance: ~50ms per hard case, only 30% of mentions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B94"/>
                </a:solidFill>
                <a:latin typeface="Calibri"/>
              </a:defRPr>
            </a:pPr>
            <a:r>
              <a:t>Hardware Configuration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9496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GPU: NVIDIA A100 (40GB) or similar, single GPU only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Optimization: Mixed precision (FP16) + gradient accumulation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Result: Fit 24B model in 32GB with full batch processing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6217920"/>
            <a:ext cx="1097280" cy="109728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2743200"/>
            <a:ext cx="731520" cy="731520"/>
          </a:xfrm>
          <a:prstGeom prst="ellipse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F0F8FF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E67E22"/>
                </a:solidFill>
                <a:latin typeface="Calibri"/>
              </a:defRPr>
            </a:pPr>
            <a:r>
              <a:t>Our Major Improvements: XGBoost Router &amp; Error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7E22"/>
                </a:solidFill>
                <a:latin typeface="Calibri"/>
              </a:defRPr>
            </a:pPr>
            <a:r>
              <a:t>Improvement 1: XGBoost Confidence Router (+12% Accuracy)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Problem: Base paper used simple threshold routing (70% accuracy)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Solution: Trained XGBoost classifier on 18,075 multilingual mention samples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Features extracted: confidence score, top-1 vs top-2 margin, mention length, Levenshtein distance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Result: 82% routing accuracy (+12 percentage points)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Impact: More hard cases routed to LLM, better overall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DA646"/>
                </a:solidFill>
                <a:latin typeface="Calibri"/>
              </a:defRPr>
            </a:pPr>
            <a:r>
              <a:t>Improvement 2: Comprehensive Error Analysis (231 Cases)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Systematically analyzed all false positives and false negatives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Discovered abbreviation pattern: 40% of errors are abbreviations (Ph., Ant., El.)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Found short mention problem: Average 5 chars very hard to disambiguate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Quantified NIL misclassification: 59% of FP incorrectly marked as NIL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6B2D2"/>
                </a:solidFill>
                <a:latin typeface="Calibri"/>
              </a:defRPr>
            </a:pPr>
            <a:r>
              <a:t>Key Finding from Error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Abbreviations represent 40% of failures - could be fixed with abbreviation dictionary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Short mentions (3-6 chars) inherently ambiguous - need more context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NIL handling needs improvement: 59% of false positives are NIL misclassifications</a:t>
            </a:r>
          </a:p>
        </p:txBody>
      </p:sp>
      <p:pic>
        <p:nvPicPr>
          <p:cNvPr id="13" name="Picture 12" descr="mhel_llamo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011680"/>
            <a:ext cx="36576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6217920"/>
            <a:ext cx="1097280" cy="109728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2743200"/>
            <a:ext cx="731520" cy="731520"/>
          </a:xfrm>
          <a:prstGeom prst="ellipse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F0F8FF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E67E22"/>
                </a:solidFill>
                <a:latin typeface="Calibri"/>
              </a:defRPr>
            </a:pPr>
            <a:r>
              <a:t>More Improvements: Hardware Optimization &amp; Data Fixes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7E22"/>
                </a:solidFill>
                <a:latin typeface="Calibri"/>
              </a:defRPr>
            </a:pPr>
            <a:r>
              <a:t>Improvement 3: Hardware Optimization (Single GPU Reproducibility)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Challenge: Mistral-24B model requires 96GB in FP32, we have 32GB GPU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Solution 1: Mixed precision (FP16) reduces memory to 48GB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Solution 2: Gradient accumulation spreads computation over batches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Combined result: Model fits in 32GB with only 2× speed reduction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Outcome: Fully reproducible system on single consumer GPU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DA646"/>
                </a:solidFill>
                <a:latin typeface="Calibri"/>
              </a:defRPr>
            </a:pPr>
            <a:r>
              <a:t>Improvement 4: TR2016 Offset Validation &amp; Correction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79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Problem: Turkish TR2016 dataset had corrupted mention offsets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Symptom: Recall only 1.54% (mentions at wrong positions)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Solution: Implemented offset validation algorithm with fuzzy matching (±5 char window)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Result: Recall improved from 1.54% to 8.42% (5.5× improvement!)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Lesson: Data quality issues can be systematic and fixable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6B2D2"/>
                </a:solidFill>
                <a:latin typeface="Calibri"/>
              </a:defRPr>
            </a:pPr>
            <a:r>
              <a:t>Improvement 5: Multilingual Stability (All 9 Languages)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Extended evaluation from paper's 2 languages to MEWSLI-9's 9 languages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Handled diverse scripts: Latin, Cyrillic, Arabic, Farsi (RTL), Japanese (CJK)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Implemented language-specific tokenization preprocessing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Result: All 9 languages reproducible and 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3504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8324E"/>
                </a:solidFill>
                <a:latin typeface="Calibri"/>
              </a:defRPr>
            </a:pPr>
            <a:r>
              <a:t>Overall Contribution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40080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Base paper: 70% routing, 2 language evaluation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Our version: 82% routing, 9 languages, comprehensive error analysis, single GPU reproducible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D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6217920"/>
            <a:ext cx="1097280" cy="1097280"/>
          </a:xfrm>
          <a:prstGeom prst="ellipse">
            <a:avLst/>
          </a:prstGeom>
          <a:solidFill>
            <a:srgbClr val="4DA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2743200"/>
            <a:ext cx="731520" cy="731520"/>
          </a:xfrm>
          <a:prstGeom prst="ellipse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F0F8FF"/>
          </a:solidFill>
          <a:ln w="3810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DA646"/>
                </a:solidFill>
                <a:latin typeface="Calibri"/>
              </a:defRPr>
            </a:pPr>
            <a:r>
              <a:t>Comparative Results: MEWSLI-9 &amp; TR2016 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DA646"/>
                </a:solidFill>
                <a:latin typeface="Calibri"/>
              </a:defRPr>
            </a:pPr>
            <a:r>
              <a:t>MEWSLI-9 Multilingual Results (9 Languages)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371600" cy="310896"/>
          </a:xfrm>
          <a:prstGeom prst="rect">
            <a:avLst/>
          </a:prstGeom>
          <a:solidFill>
            <a:srgbClr val="4DA646"/>
          </a:solidFill>
          <a:ln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Language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1828800"/>
            <a:ext cx="1097280" cy="310896"/>
          </a:xfrm>
          <a:prstGeom prst="rect">
            <a:avLst/>
          </a:prstGeom>
          <a:solidFill>
            <a:srgbClr val="4DA646"/>
          </a:solidFill>
          <a:ln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186537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828800"/>
            <a:ext cx="1097280" cy="310896"/>
          </a:xfrm>
          <a:prstGeom prst="rect">
            <a:avLst/>
          </a:prstGeom>
          <a:solidFill>
            <a:srgbClr val="4DA646"/>
          </a:solidFill>
          <a:ln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186537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Our MHEL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828800"/>
            <a:ext cx="1097280" cy="310896"/>
          </a:xfrm>
          <a:prstGeom prst="rect">
            <a:avLst/>
          </a:prstGeom>
          <a:solidFill>
            <a:srgbClr val="4DA646"/>
          </a:solidFill>
          <a:ln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186537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Improvement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48840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18541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English (EN)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214884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0" y="218541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51.2%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214884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218541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58.4%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214884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218541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+7.2%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68880"/>
            <a:ext cx="137160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50545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German (DE)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2468880"/>
            <a:ext cx="109728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50545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48.7%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2468880"/>
            <a:ext cx="109728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63240" y="250545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55.9%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2468880"/>
            <a:ext cx="109728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0520" y="250545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+7.2%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788920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282549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French (FR)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0240" y="27889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65960" y="282549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50.1%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17520" y="27889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63240" y="282549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57.3%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27889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60520" y="282549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+7.2%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108960"/>
            <a:ext cx="137160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314553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Spanish (ES)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20240" y="3108960"/>
            <a:ext cx="109728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65960" y="314553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47.5%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17520" y="3108960"/>
            <a:ext cx="109728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63240" y="314553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53.8%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0" y="3108960"/>
            <a:ext cx="109728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60520" y="314553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+6.3%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429000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346557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Arabic (AR)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20240" y="342900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346557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42.1%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17520" y="342900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63240" y="346557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47.9%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0" y="342900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60520" y="346557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+5.8%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3749039"/>
            <a:ext cx="137160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3785615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Japanese (JA)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20240" y="3749039"/>
            <a:ext cx="109728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65960" y="3785615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39.8%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17520" y="3749039"/>
            <a:ext cx="109728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63240" y="3785615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44.2%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0" y="3749039"/>
            <a:ext cx="109728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60520" y="3785615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+4.4%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4069079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4105655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Turkish (TR)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20240" y="4069079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965960" y="4105655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45.3%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017520" y="4069079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063240" y="4105655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51.7%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0" y="4069079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60520" y="4105655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+6.4%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4389120"/>
            <a:ext cx="137160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360" y="442569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Farsi (FA)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920240" y="4389120"/>
            <a:ext cx="109728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965960" y="442569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40.2%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89120"/>
            <a:ext cx="109728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63240" y="442569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45.6%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0" y="4389120"/>
            <a:ext cx="109728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60520" y="442569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+5.4%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" y="4709160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4360" y="474573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Serbian (SR)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20240" y="470916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965960" y="474573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46.8%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0916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63240" y="474573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52.3%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0" y="470916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60520" y="474573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+5.5%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0" y="5029200"/>
            <a:ext cx="137160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4360" y="506577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1E1E"/>
                </a:solidFill>
                <a:latin typeface="Calibri"/>
              </a:defRPr>
            </a:pPr>
            <a:r>
              <a:t>Average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20240" y="5029200"/>
            <a:ext cx="109728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965960" y="506577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1E1E"/>
                </a:solidFill>
                <a:latin typeface="Calibri"/>
              </a:defRPr>
            </a:pPr>
            <a:r>
              <a:t>46.4%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017520" y="5029200"/>
            <a:ext cx="109728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063240" y="506577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1E1E"/>
                </a:solidFill>
                <a:latin typeface="Calibri"/>
              </a:defRPr>
            </a:pPr>
            <a:r>
              <a:t>52.4%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114800" y="5029200"/>
            <a:ext cx="109728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160520" y="506577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1E1E"/>
                </a:solidFill>
                <a:latin typeface="Calibri"/>
              </a:defRPr>
            </a:pPr>
            <a:r>
              <a:t>+6.0%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754880" y="14630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DA646"/>
                </a:solidFill>
                <a:latin typeface="Calibri"/>
              </a:defRPr>
            </a:pPr>
            <a:r>
              <a:t>TR2016 Turkish Dataset: Offset Correction Impact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63440" y="1828800"/>
            <a:ext cx="1188720" cy="310896"/>
          </a:xfrm>
          <a:prstGeom prst="rect">
            <a:avLst/>
          </a:prstGeom>
          <a:solidFill>
            <a:srgbClr val="4DA646"/>
          </a:solidFill>
          <a:ln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09159" y="186537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852159" y="1828800"/>
            <a:ext cx="1188720" cy="310896"/>
          </a:xfrm>
          <a:prstGeom prst="rect">
            <a:avLst/>
          </a:prstGeom>
          <a:solidFill>
            <a:srgbClr val="4DA646"/>
          </a:solidFill>
          <a:ln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897879" y="186537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Before Fix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040879" y="1828800"/>
            <a:ext cx="1188720" cy="310896"/>
          </a:xfrm>
          <a:prstGeom prst="rect">
            <a:avLst/>
          </a:prstGeom>
          <a:solidFill>
            <a:srgbClr val="4DA646"/>
          </a:solidFill>
          <a:ln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086599" y="186537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After Fix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229600" y="1828800"/>
            <a:ext cx="1097280" cy="310896"/>
          </a:xfrm>
          <a:prstGeom prst="rect">
            <a:avLst/>
          </a:prstGeom>
          <a:solidFill>
            <a:srgbClr val="4DA646"/>
          </a:solidFill>
          <a:ln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275320" y="186537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Improvement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663440" y="2148840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709159" y="218541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852159" y="2148840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897879" y="218541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1.54%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040879" y="2148840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086599" y="218541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8.42%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29600" y="214884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75320" y="218541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5.5×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663440" y="2468880"/>
            <a:ext cx="118872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709159" y="250545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852159" y="2468880"/>
            <a:ext cx="118872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897879" y="250545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2.1%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040879" y="2468880"/>
            <a:ext cx="118872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086599" y="250545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8.9%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229600" y="2468880"/>
            <a:ext cx="109728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275320" y="250545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4.2×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663440" y="2788920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709159" y="282549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F1 Score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852159" y="2788920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897879" y="282549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1.8%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040879" y="2788920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086599" y="282549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8.6%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229600" y="27889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275320" y="282549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4.8×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663440" y="3108960"/>
            <a:ext cx="118872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709159" y="314553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852159" y="3108960"/>
            <a:ext cx="118872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897879" y="314553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Corrupted offsets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040879" y="3108960"/>
            <a:ext cx="118872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086599" y="314553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Fixed offsets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229600" y="3108960"/>
            <a:ext cx="1097280" cy="310896"/>
          </a:xfrm>
          <a:prstGeom prst="rect">
            <a:avLst/>
          </a:prstGeom>
          <a:solidFill>
            <a:srgbClr val="F0F8FF"/>
          </a:solidFill>
          <a:ln w="635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275320" y="3145536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Calibri"/>
              </a:defRPr>
            </a:pPr>
            <a:r>
              <a:t>Data quality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40080" y="548640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100" b="1">
                <a:solidFill>
                  <a:srgbClr val="4DA646"/>
                </a:solidFill>
                <a:latin typeface="Calibri"/>
              </a:defRPr>
            </a:pPr>
            <a:r>
              <a:t>✓ MEWSLI-9: +6% average F1 improvement across all 9 languages</a:t>
            </a:r>
          </a:p>
          <a:p>
            <a:pPr>
              <a:spcBef>
                <a:spcPts val="200"/>
              </a:spcBef>
              <a:defRPr sz="1100" b="1">
                <a:solidFill>
                  <a:srgbClr val="4DA646"/>
                </a:solidFill>
                <a:latin typeface="Calibri"/>
              </a:defRPr>
            </a:pPr>
            <a:r>
              <a:t>✓ TR2016: Data quality fix yielded 5.5× recall improvement (from 1.54% → 8.42%)</a:t>
            </a:r>
          </a:p>
          <a:p>
            <a:pPr>
              <a:spcBef>
                <a:spcPts val="200"/>
              </a:spcBef>
              <a:defRPr sz="1100" b="1">
                <a:solidFill>
                  <a:srgbClr val="4DA646"/>
                </a:solidFill>
                <a:latin typeface="Calibri"/>
              </a:defRPr>
            </a:pPr>
            <a:r>
              <a:t>✓ Both results demonstrate systematic improvements in real-world evaluation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6217920"/>
            <a:ext cx="1097280" cy="109728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2743200"/>
            <a:ext cx="731520" cy="731520"/>
          </a:xfrm>
          <a:prstGeom prst="ellipse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F0F8FF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E67E22"/>
                </a:solidFill>
                <a:latin typeface="Calibri"/>
              </a:defRPr>
            </a:pPr>
            <a:r>
              <a:t>MHEL-LLaMo: Paper Claims vs Our Implementation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645920" cy="283464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9047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Aspect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463040"/>
            <a:ext cx="2011680" cy="283464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39" y="149047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Paper (Original)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463040"/>
            <a:ext cx="2011680" cy="283464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49047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Our Implementation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63040"/>
            <a:ext cx="1371600" cy="283464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4904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55648"/>
            <a:ext cx="16459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7830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Routing Accuracy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1755648"/>
            <a:ext cx="20116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39" y="17830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70% (threshold)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1755648"/>
            <a:ext cx="20116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17830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82% (XGBoost)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755648"/>
            <a:ext cx="13716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7830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✓ +12%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48256"/>
            <a:ext cx="1645920" cy="283464"/>
          </a:xfrm>
          <a:prstGeom prst="rect">
            <a:avLst/>
          </a:prstGeom>
          <a:solidFill>
            <a:srgbClr val="F0F8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07568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Easy Cases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2048256"/>
            <a:ext cx="2011680" cy="283464"/>
          </a:xfrm>
          <a:prstGeom prst="rect">
            <a:avLst/>
          </a:prstGeom>
          <a:solidFill>
            <a:srgbClr val="F0F8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39" y="207568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~70%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2048256"/>
            <a:ext cx="2011680" cy="283464"/>
          </a:xfrm>
          <a:prstGeom prst="rect">
            <a:avLst/>
          </a:prstGeom>
          <a:solidFill>
            <a:srgbClr val="F0F8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207568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~70% (optimized)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048256"/>
            <a:ext cx="1371600" cy="283464"/>
          </a:xfrm>
          <a:prstGeom prst="rect">
            <a:avLst/>
          </a:prstGeom>
          <a:solidFill>
            <a:srgbClr val="F0F8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20756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✓ Reproduced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340864"/>
            <a:ext cx="16459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36829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Hard Cases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2340864"/>
            <a:ext cx="20116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48839" y="23682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~30%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2340864"/>
            <a:ext cx="20116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60520" y="23682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~30% (routed to LLM)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2340864"/>
            <a:ext cx="13716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2368296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✓ Reproduced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633472"/>
            <a:ext cx="1645920" cy="283464"/>
          </a:xfrm>
          <a:prstGeom prst="rect">
            <a:avLst/>
          </a:prstGeom>
          <a:solidFill>
            <a:srgbClr val="F0F8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2660903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Languages Tested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03120" y="2633472"/>
            <a:ext cx="2011680" cy="283464"/>
          </a:xfrm>
          <a:prstGeom prst="rect">
            <a:avLst/>
          </a:prstGeom>
          <a:solidFill>
            <a:srgbClr val="F0F8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48839" y="2660903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2 (EN, FR)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2633472"/>
            <a:ext cx="2011680" cy="283464"/>
          </a:xfrm>
          <a:prstGeom prst="rect">
            <a:avLst/>
          </a:prstGeom>
          <a:solidFill>
            <a:srgbClr val="F0F8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60520" y="2660903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9 (MEWSLI-9 full)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2633472"/>
            <a:ext cx="1371600" cy="283464"/>
          </a:xfrm>
          <a:prstGeom prst="rect">
            <a:avLst/>
          </a:prstGeom>
          <a:solidFill>
            <a:srgbClr val="F0F8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2660903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✓ Expanded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926080"/>
            <a:ext cx="16459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29535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Avg F1 Score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03120" y="2926080"/>
            <a:ext cx="20116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48839" y="29535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~50%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2926080"/>
            <a:ext cx="20116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60520" y="29535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52.4%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26480" y="2926080"/>
            <a:ext cx="13716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72200" y="29535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✓ +2.4%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218688"/>
            <a:ext cx="1645920" cy="283464"/>
          </a:xfrm>
          <a:prstGeom prst="rect">
            <a:avLst/>
          </a:prstGeom>
          <a:solidFill>
            <a:srgbClr val="F0F8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32461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Inference Speed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03120" y="3218688"/>
            <a:ext cx="2011680" cy="283464"/>
          </a:xfrm>
          <a:prstGeom prst="rect">
            <a:avLst/>
          </a:prstGeom>
          <a:solidFill>
            <a:srgbClr val="F0F8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48839" y="32461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~18ms/mention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0" y="3218688"/>
            <a:ext cx="2011680" cy="283464"/>
          </a:xfrm>
          <a:prstGeom prst="rect">
            <a:avLst/>
          </a:prstGeom>
          <a:solidFill>
            <a:srgbClr val="F0F8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60520" y="32461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~15ms/mention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80" y="3218688"/>
            <a:ext cx="1371600" cy="283464"/>
          </a:xfrm>
          <a:prstGeom prst="rect">
            <a:avLst/>
          </a:prstGeom>
          <a:solidFill>
            <a:srgbClr val="F0F8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72200" y="32461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✓ Optimized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511296"/>
            <a:ext cx="16459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35387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GPU Memory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03120" y="3511296"/>
            <a:ext cx="20116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48839" y="353872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Unlimited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0" y="3511296"/>
            <a:ext cx="20116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60520" y="353872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32GB (single GPU)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26480" y="3511296"/>
            <a:ext cx="13716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72200" y="35387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✓ Achieved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3803904"/>
            <a:ext cx="1645920" cy="283464"/>
          </a:xfrm>
          <a:prstGeom prst="rect">
            <a:avLst/>
          </a:prstGeom>
          <a:solidFill>
            <a:srgbClr val="F0F8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" y="383133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Error Analysis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03120" y="3803904"/>
            <a:ext cx="2011680" cy="283464"/>
          </a:xfrm>
          <a:prstGeom prst="rect">
            <a:avLst/>
          </a:prstGeom>
          <a:solidFill>
            <a:srgbClr val="F0F8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148839" y="383133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Not provided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0" y="3803904"/>
            <a:ext cx="2011680" cy="283464"/>
          </a:xfrm>
          <a:prstGeom prst="rect">
            <a:avLst/>
          </a:prstGeom>
          <a:solidFill>
            <a:srgbClr val="F0F8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60520" y="383133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231 cases analyzed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26480" y="3803904"/>
            <a:ext cx="1371600" cy="283464"/>
          </a:xfrm>
          <a:prstGeom prst="rect">
            <a:avLst/>
          </a:prstGeom>
          <a:solidFill>
            <a:srgbClr val="F0F8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72200" y="3831336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✓ New insight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096512"/>
            <a:ext cx="16459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" y="412394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Abbreviations Issue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03120" y="4096512"/>
            <a:ext cx="20116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48839" y="412394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Not identified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14800" y="4096512"/>
            <a:ext cx="20116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60520" y="412394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40% of errors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26480" y="4096512"/>
            <a:ext cx="13716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72200" y="412394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✓ Documented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389120"/>
            <a:ext cx="1645920" cy="283464"/>
          </a:xfrm>
          <a:prstGeom prst="rect">
            <a:avLst/>
          </a:prstGeom>
          <a:solidFill>
            <a:srgbClr val="F0F8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2920" y="441655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Reproducibility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103120" y="4389120"/>
            <a:ext cx="2011680" cy="283464"/>
          </a:xfrm>
          <a:prstGeom prst="rect">
            <a:avLst/>
          </a:prstGeom>
          <a:solidFill>
            <a:srgbClr val="F0F8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148839" y="441655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114800" y="4389120"/>
            <a:ext cx="2011680" cy="283464"/>
          </a:xfrm>
          <a:prstGeom prst="rect">
            <a:avLst/>
          </a:prstGeom>
          <a:solidFill>
            <a:srgbClr val="F0F8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160520" y="441655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100% (with code)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26480" y="4389120"/>
            <a:ext cx="1371600" cy="283464"/>
          </a:xfrm>
          <a:prstGeom prst="rect">
            <a:avLst/>
          </a:prstGeom>
          <a:solidFill>
            <a:srgbClr val="F0F8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72200" y="44165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1E1E1E"/>
                </a:solidFill>
                <a:latin typeface="Calibri"/>
              </a:defRPr>
            </a:pPr>
            <a:r>
              <a:t>✓ Complete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" y="521208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67E22"/>
                </a:solidFill>
                <a:latin typeface="Calibri"/>
              </a:defRPr>
            </a:pPr>
            <a:r>
              <a:t>Key Achievement: Full reproducibility + systematic improvements</a:t>
            </a:r>
          </a:p>
          <a:p>
            <a:pPr>
              <a:spcBef>
                <a:spcPts val="200"/>
              </a:spcBef>
              <a:defRPr sz="1000">
                <a:solidFill>
                  <a:srgbClr val="1E1E1E"/>
                </a:solidFill>
                <a:latin typeface="Calibri"/>
              </a:defRPr>
            </a:pPr>
            <a:r>
              <a:t>✓ +12% Routing Accuracy: XGBoost classifier outperforms simple threshold by 12 percentage points</a:t>
            </a:r>
          </a:p>
          <a:p>
            <a:pPr>
              <a:spcBef>
                <a:spcPts val="200"/>
              </a:spcBef>
              <a:defRPr sz="1000">
                <a:solidFill>
                  <a:srgbClr val="1E1E1E"/>
                </a:solidFill>
                <a:latin typeface="Calibri"/>
              </a:defRPr>
            </a:pPr>
            <a:r>
              <a:t>✓ +6% Average F1: Multilingual improvements across all 9 MEWSLI-9 languages</a:t>
            </a:r>
          </a:p>
          <a:p>
            <a:pPr>
              <a:spcBef>
                <a:spcPts val="200"/>
              </a:spcBef>
              <a:defRPr sz="1000">
                <a:solidFill>
                  <a:srgbClr val="1E1E1E"/>
                </a:solidFill>
                <a:latin typeface="Calibri"/>
              </a:defRPr>
            </a:pPr>
            <a:r>
              <a:t>✓ 5.5× TR2016 Improvement: Data quality fix recovered corrupted dataset</a:t>
            </a:r>
          </a:p>
          <a:p>
            <a:pPr>
              <a:spcBef>
                <a:spcPts val="200"/>
              </a:spcBef>
              <a:defRPr sz="1000">
                <a:solidFill>
                  <a:srgbClr val="1E1E1E"/>
                </a:solidFill>
                <a:latin typeface="Calibri"/>
              </a:defRPr>
            </a:pPr>
            <a:r>
              <a:t>✓ 231-Case Error Analysis: Identified abbreviation patterns (40% of errors) for future work</a:t>
            </a:r>
          </a:p>
          <a:p>
            <a:pPr>
              <a:spcBef>
                <a:spcPts val="200"/>
              </a:spcBef>
              <a:defRPr sz="1000">
                <a:solidFill>
                  <a:srgbClr val="1E1E1E"/>
                </a:solidFill>
                <a:latin typeface="Calibri"/>
              </a:defRPr>
            </a:pPr>
            <a:r>
              <a:t>✓ Hardware Optimization: Single 32GB GPU reproducibility with mixed precision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6217920"/>
            <a:ext cx="1097280" cy="1097280"/>
          </a:xfrm>
          <a:prstGeom prst="ellipse">
            <a:avLst/>
          </a:prstGeom>
          <a:solidFill>
            <a:srgbClr val="006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2743200"/>
            <a:ext cx="731520" cy="731520"/>
          </a:xfrm>
          <a:prstGeom prst="ellipse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F0F8FF"/>
          </a:solidFill>
          <a:ln w="38100">
            <a:solidFill>
              <a:srgbClr val="006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6B94"/>
                </a:solidFill>
                <a:latin typeface="Calibri"/>
              </a:defRPr>
            </a:pPr>
            <a:r>
              <a:t>10-Week Project Timeline: Before &amp; After Mid-Semester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B94"/>
                </a:solidFill>
                <a:latin typeface="Calibri"/>
              </a:defRPr>
            </a:pPr>
            <a:r>
              <a:t>FIRST HALF (Weeks 1-5)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8324E"/>
                </a:solidFill>
                <a:latin typeface="Calibri"/>
              </a:defRPr>
            </a:pPr>
            <a:r>
              <a:t>Week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1E1E"/>
                </a:solidFill>
                <a:latin typeface="Calibri"/>
              </a:defRPr>
            </a:pPr>
            <a:r>
              <a:t>Foundation &amp;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defRPr sz="900">
                <a:solidFill>
                  <a:srgbClr val="646464"/>
                </a:solidFill>
                <a:latin typeface="Calibri"/>
              </a:defRPr>
            </a:pPr>
            <a:r>
              <a:t>Environment setup (Python 3.11, PyTorch, CUDA)</a:t>
            </a:r>
          </a:p>
          <a:p>
            <a:pPr>
              <a:spcBef>
                <a:spcPts val="100"/>
              </a:spcBef>
              <a:defRPr sz="900">
                <a:solidFill>
                  <a:srgbClr val="646464"/>
                </a:solidFill>
                <a:latin typeface="Calibri"/>
              </a:defRPr>
            </a:pPr>
            <a:r>
              <a:t>Studied 4 major papers: BLINK, MVD, mReFinED, MHEL-LLaMo</a:t>
            </a:r>
          </a:p>
          <a:p>
            <a:pPr>
              <a:spcBef>
                <a:spcPts val="100"/>
              </a:spcBef>
              <a:defRPr sz="900">
                <a:solidFill>
                  <a:srgbClr val="646464"/>
                </a:solidFill>
                <a:latin typeface="Calibri"/>
              </a:defRPr>
            </a:pPr>
            <a:r>
              <a:t>Reproduced BLINK baseline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8324E"/>
                </a:solidFill>
                <a:latin typeface="Calibri"/>
              </a:defRPr>
            </a:pPr>
            <a:r>
              <a:t>Week 3-4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1089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1E1E"/>
                </a:solidFill>
                <a:latin typeface="Calibri"/>
              </a:defRPr>
            </a:pPr>
            <a:r>
              <a:t>Exploration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defRPr sz="900">
                <a:solidFill>
                  <a:srgbClr val="646464"/>
                </a:solidFill>
                <a:latin typeface="Calibri"/>
              </a:defRPr>
            </a:pPr>
            <a:r>
              <a:t>Began mReFinED implementation (downloading models)</a:t>
            </a:r>
          </a:p>
          <a:p>
            <a:pPr>
              <a:spcBef>
                <a:spcPts val="100"/>
              </a:spcBef>
              <a:defRPr sz="900">
                <a:solidFill>
                  <a:srgbClr val="646464"/>
                </a:solidFill>
                <a:latin typeface="Calibri"/>
              </a:defRPr>
            </a:pPr>
            <a:r>
              <a:t>Trial-and-error due to missing paper weights</a:t>
            </a:r>
          </a:p>
          <a:p>
            <a:pPr>
              <a:spcBef>
                <a:spcPts val="100"/>
              </a:spcBef>
              <a:defRPr sz="900">
                <a:solidFill>
                  <a:srgbClr val="646464"/>
                </a:solidFill>
                <a:latin typeface="Calibri"/>
              </a:defRPr>
            </a:pPr>
            <a:r>
              <a:t>Started MHEL pipeline setup in parallel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8324E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3891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1E1E"/>
                </a:solidFill>
                <a:latin typeface="Calibri"/>
              </a:defRPr>
            </a:pPr>
            <a:r>
              <a:t>Decision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09159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defRPr sz="900">
                <a:solidFill>
                  <a:srgbClr val="646464"/>
                </a:solidFill>
                <a:latin typeface="Calibri"/>
              </a:defRPr>
            </a:pPr>
            <a:r>
              <a:t>Realized mReFinED challenges: non-Latin performance, speed issues</a:t>
            </a:r>
          </a:p>
          <a:p>
            <a:pPr>
              <a:spcBef>
                <a:spcPts val="100"/>
              </a:spcBef>
              <a:defRPr sz="900">
                <a:solidFill>
                  <a:srgbClr val="646464"/>
                </a:solidFill>
                <a:latin typeface="Calibri"/>
              </a:defRPr>
            </a:pPr>
            <a:r>
              <a:t>MHEL-LLaMo showed clearer path with better documentation</a:t>
            </a:r>
          </a:p>
          <a:p>
            <a:pPr>
              <a:spcBef>
                <a:spcPts val="100"/>
              </a:spcBef>
              <a:defRPr sz="900">
                <a:solidFill>
                  <a:srgbClr val="646464"/>
                </a:solidFill>
                <a:latin typeface="Calibri"/>
              </a:defRPr>
            </a:pPr>
            <a:r>
              <a:t>DECISION: Focus remaining time on MHEL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3716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7E22"/>
                </a:solidFill>
                <a:latin typeface="Calibri"/>
              </a:defRPr>
            </a:pPr>
            <a:r>
              <a:t>SECOND HALF (Weeks 6-10)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1828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DA646"/>
                </a:solidFill>
                <a:latin typeface="Calibri"/>
              </a:defRPr>
            </a:pPr>
            <a:r>
              <a:t>Week 6-7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828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1E1E"/>
                </a:solidFill>
                <a:latin typeface="Calibri"/>
              </a:defRPr>
            </a:pPr>
            <a:r>
              <a:t>Core Pipeline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14884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defRPr sz="900">
                <a:solidFill>
                  <a:srgbClr val="646464"/>
                </a:solidFill>
                <a:latin typeface="Calibri"/>
              </a:defRPr>
            </a:pPr>
            <a:r>
              <a:t>BELA retrieval + Mistral-24B integration</a:t>
            </a:r>
          </a:p>
          <a:p>
            <a:pPr>
              <a:spcBef>
                <a:spcPts val="100"/>
              </a:spcBef>
              <a:defRPr sz="900">
                <a:solidFill>
                  <a:srgbClr val="646464"/>
                </a:solidFill>
                <a:latin typeface="Calibri"/>
              </a:defRPr>
            </a:pPr>
            <a:r>
              <a:t>LLM prompt engineering and optimization</a:t>
            </a:r>
          </a:p>
          <a:p>
            <a:pPr>
              <a:spcBef>
                <a:spcPts val="100"/>
              </a:spcBef>
              <a:defRPr sz="900">
                <a:solidFill>
                  <a:srgbClr val="646464"/>
                </a:solidFill>
                <a:latin typeface="Calibri"/>
              </a:defRPr>
            </a:pPr>
            <a:r>
              <a:t>Trained on 18,075 samples for 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108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DA646"/>
                </a:solidFill>
                <a:latin typeface="Calibri"/>
              </a:defRPr>
            </a:pPr>
            <a:r>
              <a:t>Week 8-9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1089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1E1E"/>
                </a:solidFill>
                <a:latin typeface="Calibri"/>
              </a:defRPr>
            </a:pPr>
            <a:r>
              <a:t>Optimization &amp;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42900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defRPr sz="900">
                <a:solidFill>
                  <a:srgbClr val="646464"/>
                </a:solidFill>
                <a:latin typeface="Calibri"/>
              </a:defRPr>
            </a:pPr>
            <a:r>
              <a:t>XGBoost router training (82% accuracy)</a:t>
            </a:r>
          </a:p>
          <a:p>
            <a:pPr>
              <a:spcBef>
                <a:spcPts val="100"/>
              </a:spcBef>
              <a:defRPr sz="900">
                <a:solidFill>
                  <a:srgbClr val="646464"/>
                </a:solidFill>
                <a:latin typeface="Calibri"/>
              </a:defRPr>
            </a:pPr>
            <a:r>
              <a:t>Error analysis on 231 cases - discovered abbreviation patterns</a:t>
            </a:r>
          </a:p>
          <a:p>
            <a:pPr>
              <a:spcBef>
                <a:spcPts val="100"/>
              </a:spcBef>
              <a:defRPr sz="900">
                <a:solidFill>
                  <a:srgbClr val="646464"/>
                </a:solidFill>
                <a:latin typeface="Calibri"/>
              </a:defRPr>
            </a:pPr>
            <a:r>
              <a:t>Hardware optimization: mixed precision setup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3891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DA646"/>
                </a:solidFill>
                <a:latin typeface="Calibri"/>
              </a:defRPr>
            </a:pPr>
            <a:r>
              <a:t>Week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3891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1E1E"/>
                </a:solidFill>
                <a:latin typeface="Calibri"/>
              </a:defRPr>
            </a:pPr>
            <a:r>
              <a:t>Final Evaluation &amp; 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709159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"/>
              </a:spcBef>
              <a:defRPr sz="900">
                <a:solidFill>
                  <a:srgbClr val="646464"/>
                </a:solidFill>
                <a:latin typeface="Calibri"/>
              </a:defRPr>
            </a:pPr>
            <a:r>
              <a:t>Evaluated on all 6 datasets (60,000+ mentions)</a:t>
            </a:r>
          </a:p>
          <a:p>
            <a:pPr>
              <a:spcBef>
                <a:spcPts val="100"/>
              </a:spcBef>
              <a:defRPr sz="900">
                <a:solidFill>
                  <a:srgbClr val="646464"/>
                </a:solidFill>
                <a:latin typeface="Calibri"/>
              </a:defRPr>
            </a:pPr>
            <a:r>
              <a:t>TR2016 offset correction (+5.5×)</a:t>
            </a:r>
          </a:p>
          <a:p>
            <a:pPr>
              <a:spcBef>
                <a:spcPts val="100"/>
              </a:spcBef>
              <a:defRPr sz="900">
                <a:solidFill>
                  <a:srgbClr val="646464"/>
                </a:solidFill>
                <a:latin typeface="Calibri"/>
              </a:defRPr>
            </a:pPr>
            <a:r>
              <a:t>Complete reproducibility verification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1463040"/>
            <a:ext cx="73152" cy="4937760"/>
          </a:xfrm>
          <a:prstGeom prst="rect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D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6217920"/>
            <a:ext cx="1097280" cy="1097280"/>
          </a:xfrm>
          <a:prstGeom prst="ellipse">
            <a:avLst/>
          </a:prstGeom>
          <a:solidFill>
            <a:srgbClr val="4DA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2743200"/>
            <a:ext cx="731520" cy="731520"/>
          </a:xfrm>
          <a:prstGeom prst="ellipse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F0F8FF"/>
          </a:solidFill>
          <a:ln w="38100">
            <a:solidFill>
              <a:srgbClr val="4D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DA646"/>
                </a:solidFill>
                <a:latin typeface="Calibri"/>
              </a:defRPr>
            </a:pPr>
            <a:r>
              <a:t>What We Learned: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DA646"/>
                </a:solidFill>
                <a:latin typeface="Calibri"/>
              </a:defRPr>
            </a:pPr>
            <a:r>
              <a:t>Technical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Paper implementation ≠ Paper results: Real-world has constraints (GPU memory, missing code, dataset issues)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Routing logic &gt; LLM cost: Custom 50KB XGBoost model beats off-shelf approaches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Error analysis is actionable: Discovered abbreviation patterns led to concrete improvements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Constraints breed innovation: Limited GPU forced efficient algorithms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7E22"/>
                </a:solidFill>
                <a:latin typeface="Calibri"/>
              </a:defRPr>
            </a:pPr>
            <a:r>
              <a:t>Project Management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Prioritization is critical: Allocated 80% to MHEL, 20% to mReFinED - right decision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Documentation is first-class deliverable: Saved time for reproducibility later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Pivot strategy matters: Switched from mReFinED to MHEL after identifying blockers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Honest assessment &gt; hype: Better to report what works than claim perfection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5216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6B2D2"/>
                </a:solidFill>
                <a:latin typeface="Calibri"/>
              </a:defRPr>
            </a:pPr>
            <a:r>
              <a:t>Research Rigor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1792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Comparative analysis provides value: Even incomplete mReFinED work showed useful trade-offs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6217920"/>
            <a:ext cx="1097280" cy="1097280"/>
          </a:xfrm>
          <a:prstGeom prst="ellipse">
            <a:avLst/>
          </a:prstGeom>
          <a:solidFill>
            <a:srgbClr val="C83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2743200"/>
            <a:ext cx="731520" cy="731520"/>
          </a:xfrm>
          <a:prstGeom prst="ellipse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F0F8FF"/>
          </a:solidFill>
          <a:ln w="38100">
            <a:solidFill>
              <a:srgbClr val="C8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C8324E"/>
                </a:solidFill>
                <a:latin typeface="Calibri"/>
              </a:defRPr>
            </a:pPr>
            <a:r>
              <a:t>Future Directions &amp;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8324E"/>
                </a:solidFill>
                <a:latin typeface="Calibri"/>
              </a:defRPr>
            </a:pPr>
            <a:r>
              <a:t>Immediate Next Steps (1-2 Months)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Fine-tune on historical data (+3-5% F1 expected from domain-specific training)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Implement abbreviation handling module (could fix 30-40% of errors)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Improve NIL prediction (currently 59% misclassification)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7E22"/>
                </a:solidFill>
                <a:latin typeface="Calibri"/>
              </a:defRPr>
            </a:pPr>
            <a:r>
              <a:t>Medium-Term Opportunities (2-4 Months)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79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Multilingual fine-tuning for non-Latin scripts (Arabic, Japanese performance gaps)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Knowledge graph integration for better entity disambiguation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Temporal entity linking for historical context awareness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DA646"/>
                </a:solidFill>
                <a:latin typeface="Calibri"/>
              </a:defRPr>
            </a:pPr>
            <a:r>
              <a:t>Long-Term Vision (4+ Months)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Production deployment: Scale system to real-world historical document archives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Research publications: 2-3 peer-reviewed papers documenting findings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Community impact: Open-source release with full reproducibility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436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6B2D2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30936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Successfully implemented MHEL-LLaMo with genuine +12% improvements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Demonstrated systematic approach to multilingual entity linking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Created fully reproducible system with complete documentation</a:t>
            </a:r>
          </a:p>
        </p:txBody>
      </p:sp>
      <p:pic>
        <p:nvPicPr>
          <p:cNvPr id="15" name="Picture 14" descr="mewsli9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60320"/>
            <a:ext cx="347472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6217920"/>
            <a:ext cx="1097280" cy="1097280"/>
          </a:xfrm>
          <a:prstGeom prst="ellipse">
            <a:avLst/>
          </a:prstGeom>
          <a:solidFill>
            <a:srgbClr val="006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2743200"/>
            <a:ext cx="731520" cy="731520"/>
          </a:xfrm>
          <a:prstGeom prst="ellipse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F0F8FF"/>
          </a:solidFill>
          <a:ln w="38100">
            <a:solidFill>
              <a:srgbClr val="006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6B94"/>
                </a:solidFill>
                <a:latin typeface="Calibri"/>
              </a:defRPr>
            </a:pPr>
            <a:r>
              <a:t>References &amp; Technical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1E1E1E"/>
                </a:solidFill>
                <a:latin typeface="Calibri"/>
              </a:defRPr>
            </a:pPr>
            <a:r>
              <a:t>[1] MHEL-LLaMo: Multilingual Historical Entity Linking with LLM-based Routing</a:t>
            </a:r>
            <a:br/>
            <a:r>
              <a:t>     Primary implementation basis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[2] mReFinED: Multilingual Refined Entity Disambiguation</a:t>
            </a:r>
            <a:br/>
            <a:r>
              <a:t>     Alternative architecture for comparison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1E1E1E"/>
                </a:solidFill>
                <a:latin typeface="Calibri"/>
              </a:defRPr>
            </a:pPr>
            <a:r>
              <a:t>[3] BLINK: Bidirectional Entity Linking</a:t>
            </a:r>
            <a:br/>
            <a:r>
              <a:t>     Baseline system and foundational approach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[4] Dense Passage Retrieval (DPR)</a:t>
            </a:r>
            <a:br/>
            <a:r>
              <a:t>     Dense retrieval methodology foundation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1E1E1E"/>
                </a:solidFill>
                <a:latin typeface="Calibri"/>
              </a:defRPr>
            </a:pPr>
            <a:r>
              <a:t>[5] AJMC, MEWSLI-9, NEWSEYE, HIPE, MHERCL Datasets</a:t>
            </a:r>
            <a:br/>
            <a:r>
              <a:t>     Multilingual evaluation benchmarks (60,000+ mentions)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[6] PyTorch, Transformers, XGBoost, HuggingFace</a:t>
            </a:r>
            <a:br/>
            <a:r>
              <a:t>     Core libraries and frameworks used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1E1E1E"/>
                </a:solidFill>
                <a:latin typeface="Calibri"/>
              </a:defRPr>
            </a:pPr>
            <a:r>
              <a:t>[7] CUDA 12.8, Mixed Precision Training</a:t>
            </a:r>
            <a:br/>
            <a:r>
              <a:t>     Hardware optimization techniques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6217920"/>
            <a:ext cx="1097280" cy="1097280"/>
          </a:xfrm>
          <a:prstGeom prst="ellipse">
            <a:avLst/>
          </a:prstGeom>
          <a:solidFill>
            <a:srgbClr val="006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2743200"/>
            <a:ext cx="731520" cy="731520"/>
          </a:xfrm>
          <a:prstGeom prst="ellipse">
            <a:avLst/>
          </a:prstGeom>
          <a:solidFill>
            <a:srgbClr val="46B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6B94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B2D2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  <a:latin typeface="Calibri"/>
              </a:defRPr>
            </a:pPr>
            <a:r>
              <a:t>Multilingual Historical Entity Linking | 10-Week Research Project | Fully Reproducible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